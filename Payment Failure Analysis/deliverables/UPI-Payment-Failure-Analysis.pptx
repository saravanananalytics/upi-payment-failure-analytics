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Bold"/>
      <p:regular r:id="rId201315"/>
    </p:embeddedFont>
    <p:embeddedFont>
      <p:font typeface="Source Serif 4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6.png"/><Relationship Id="rId9" Type="http://schemas.openxmlformats.org/officeDocument/2006/relationships/image" Target="../media/image-7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950244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UPI Payment Failure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422749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structured practice framework for fintech operations analysts — using a public UPI dataset to surface concentrated failure patterns, build SQL fluency, and deliver executive-ready diagnostics.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4604643"/>
            <a:ext cx="985714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6" name="Text 3"/>
          <p:cNvSpPr/>
          <p:nvPr/>
        </p:nvSpPr>
        <p:spPr>
          <a:xfrm>
            <a:off x="5389626" y="4664472"/>
            <a:ext cx="135598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EXCEL / CSV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55397" y="4604643"/>
            <a:ext cx="1401430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8" name="Text 5"/>
          <p:cNvSpPr/>
          <p:nvPr/>
        </p:nvSpPr>
        <p:spPr>
          <a:xfrm>
            <a:off x="6475052" y="4664472"/>
            <a:ext cx="177170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/ PANDAS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56539" y="4604643"/>
            <a:ext cx="1647089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10" name="Text 7"/>
          <p:cNvSpPr/>
          <p:nvPr/>
        </p:nvSpPr>
        <p:spPr>
          <a:xfrm>
            <a:off x="7976194" y="4664472"/>
            <a:ext cx="2017364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/ POSTGRESQL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3341" y="4604643"/>
            <a:ext cx="870623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12" name="Text 9"/>
          <p:cNvSpPr/>
          <p:nvPr/>
        </p:nvSpPr>
        <p:spPr>
          <a:xfrm>
            <a:off x="9722996" y="4664472"/>
            <a:ext cx="124089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67709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Business Problem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562920"/>
            <a:ext cx="622363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Payment failures erode revenue, damage customer trust, and strain operations. The UPI dataset provides real-world transaction records — enabling analysts to locate failure concentration, quantify financial exposure, and deliver actionable diagnostics to payment operations teams.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4064000"/>
            <a:ext cx="6223638" cy="1116905"/>
          </a:xfrm>
          <a:prstGeom prst="roundRect">
            <a:avLst>
              <a:gd name="adj" fmla="val 7501"/>
            </a:avLst>
          </a:prstGeom>
          <a:solidFill>
            <a:srgbClr val="F0D4F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396" y="4354612"/>
            <a:ext cx="249330" cy="199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18151" y="4313238"/>
            <a:ext cx="537603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Treat the dataset as a practice source. Document the exact file name and version used in your project to ensure reproducibility.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8555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Analysis Framework: Three Layers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871192"/>
            <a:ext cx="3465525" cy="2101255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3860" y="3076972"/>
            <a:ext cx="3053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Measure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3860" y="3489920"/>
            <a:ext cx="3053976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Calculate overall failure rate, segment by payment method, bank, device, network, and transaction amount bucket.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3035" y="2871192"/>
            <a:ext cx="3465525" cy="2101255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8810" y="3076972"/>
            <a:ext cx="3053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Diagnose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68810" y="3489920"/>
            <a:ext cx="3053976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peak failure hours, high-risk bank × device combinations, and banks exceeding minimum-volume thresholds.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7985" y="2871192"/>
            <a:ext cx="3465624" cy="2101255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33760" y="3076972"/>
            <a:ext cx="30540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Report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33760" y="3489920"/>
            <a:ext cx="3054075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Quantify failed transaction value share by bank and payment method. Deliver an executive KPI page and a diagnostic drill-down.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6898"/>
            <a:ext cx="10795524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spc="-6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Cleaning: Eight Foundational Steps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98086" y="1637506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98086" y="1929904"/>
            <a:ext cx="531005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2074168"/>
            <a:ext cx="531005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Verify transaction_id uniqueness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183455" y="1637506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83455" y="1929904"/>
            <a:ext cx="5310154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8" name="Text 6"/>
          <p:cNvSpPr/>
          <p:nvPr/>
        </p:nvSpPr>
        <p:spPr>
          <a:xfrm>
            <a:off x="6183455" y="2074168"/>
            <a:ext cx="531015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Parse timestamps — extract date, month, and hour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8086" y="2664718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98086" y="2957116"/>
            <a:ext cx="531005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1" name="Text 9"/>
          <p:cNvSpPr/>
          <p:nvPr/>
        </p:nvSpPr>
        <p:spPr>
          <a:xfrm>
            <a:off x="698086" y="3101380"/>
            <a:ext cx="531005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Flag missing status, bank, device, and amount fields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83455" y="2664718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83455" y="2957116"/>
            <a:ext cx="5310154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4" name="Text 12"/>
          <p:cNvSpPr/>
          <p:nvPr/>
        </p:nvSpPr>
        <p:spPr>
          <a:xfrm>
            <a:off x="6183455" y="3101380"/>
            <a:ext cx="531015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Standardize status and payment-mode labels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8086" y="3691930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98086" y="3984327"/>
            <a:ext cx="531005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7" name="Text 15"/>
          <p:cNvSpPr/>
          <p:nvPr/>
        </p:nvSpPr>
        <p:spPr>
          <a:xfrm>
            <a:off x="698086" y="4128591"/>
            <a:ext cx="5310055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Check for zero, negative, and extreme transaction amounts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83455" y="3691930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06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83455" y="3984327"/>
            <a:ext cx="5310154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0" name="Text 18"/>
          <p:cNvSpPr/>
          <p:nvPr/>
        </p:nvSpPr>
        <p:spPr>
          <a:xfrm>
            <a:off x="6183455" y="4128591"/>
            <a:ext cx="531015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Create a binary failure_flag column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8086" y="4994176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07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98086" y="5286573"/>
            <a:ext cx="531005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3" name="Text 21"/>
          <p:cNvSpPr/>
          <p:nvPr/>
        </p:nvSpPr>
        <p:spPr>
          <a:xfrm>
            <a:off x="698086" y="5430837"/>
            <a:ext cx="531005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Build amount buckets for segmentation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83455" y="4994176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08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83455" y="5286573"/>
            <a:ext cx="5310154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6" name="Text 24"/>
          <p:cNvSpPr/>
          <p:nvPr/>
        </p:nvSpPr>
        <p:spPr>
          <a:xfrm>
            <a:off x="6183455" y="5430837"/>
            <a:ext cx="5310154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Document minimum-volume thresholds before rate comparisons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Failure Rate Segmentation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169543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What to investigate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365996"/>
            <a:ext cx="5276123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Which payment methods carry the highest failure rate?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Which banks process the most failed transactions?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 failure rates differ significantly by device type?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Does network type correlate with failure frequency?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3836" y="3941564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Always apply a minimum transaction-volume threshold before comparing rates across segments.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785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Time &amp; Value Dimension Analysis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31988"/>
            <a:ext cx="6846716" cy="3879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7708" y="1853109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Temporal Patterns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37708" y="2345829"/>
            <a:ext cx="3462152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hours of the day with unusually high failure rates. Peak traffic windows often reveal infrastructure strain or third-party gateway latency.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037708" y="3822005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Transaction Value Exposure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37708" y="4314726"/>
            <a:ext cx="3462152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Segment by amount bucket to find where failure risk concentrates. Then quantify the share of total failed transaction value attributable to each bank and payment method.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65348"/>
            <a:ext cx="6223638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spc="-5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SQL Practice: Progressive Skill Building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971" y="1638995"/>
            <a:ext cx="6223638" cy="1082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17913" y="1810742"/>
            <a:ext cx="580395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Foundational Queries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517913" y="2105422"/>
            <a:ext cx="5803953" cy="443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/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/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compute overall failure rate and segment by payment method and bank.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2837954"/>
            <a:ext cx="6223638" cy="1082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17913" y="3009702"/>
            <a:ext cx="580395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Conditional Aggregation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517913" y="3304381"/>
            <a:ext cx="5803953" cy="443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Apply 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percentage calculations to compare failure rates across device type, network type, and transaction amount buckets.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4036913"/>
            <a:ext cx="6223638" cy="10693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17913" y="4208661"/>
            <a:ext cx="580395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Advanced Techniques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5517913" y="4503341"/>
            <a:ext cx="5803953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date functions, CTEs, and window functions for temporal analysis — peak hours, rolling rates, and cross-segment comparisons.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9971" y="5223173"/>
            <a:ext cx="6223638" cy="10693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17913" y="5394920"/>
            <a:ext cx="580395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Drill-Down Interpretation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5517913" y="5689600"/>
            <a:ext cx="5803953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Answer bank × device cross-tabs and failed value share questions. Compare segments — never report totals alone. Write one business sentence beneath every saved query.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Cross-Segment Drill-Down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8086" y="3154759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Bank × Device Combinations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8086" y="3351213"/>
            <a:ext cx="527612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Cross-tabulate bank and device type to isolate the highest-risk combinations. These reveal whether failures are bank-specific, device-specific, or concentrated in particular pairings — directly informing where to focus remediation.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98086" y="3640336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Failed Value Share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98086" y="3836789"/>
            <a:ext cx="527612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Calculate what share of total failed transaction value each bank and payment method accounts for. This shifts the lens from transaction count to financial exposure — the metric that matters most to stakeholders.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836" y="974824"/>
            <a:ext cx="5276123" cy="52762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916980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Dashboard Design: Two-Page Structure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2389485"/>
            <a:ext cx="6223638" cy="3551436"/>
          </a:xfrm>
          <a:prstGeom prst="roundRect">
            <a:avLst>
              <a:gd name="adj" fmla="val 235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436" y="2395835"/>
            <a:ext cx="6210938" cy="1769368"/>
          </a:xfrm>
          <a:custGeom>
            <a:avLst/>
            <a:gdLst/>
            <a:ahLst/>
            <a:cxnLst/>
            <a:rect l="l" t="t" r="r" b="b"/>
            <a:pathLst>
              <a:path w="6210938" h="1769368">
                <a:moveTo>
                  <a:pt x="69818" y="0"/>
                </a:moveTo>
                <a:lnTo>
                  <a:pt x="6141121" y="0"/>
                </a:lnTo>
                <a:arcTo hR="69820" wR="69818" stAng="16200000" swAng="5400000"/>
                <a:lnTo>
                  <a:pt x="6210938" y="1769368"/>
                </a:lnTo>
                <a:lnTo>
                  <a:pt x="0" y="1769368"/>
                </a:lnTo>
                <a:lnTo>
                  <a:pt x="0" y="69820"/>
                </a:lnTo>
                <a:arcTo hR="69820" wR="69818" stAng="10800000" swAng="5400000"/>
                <a:close/>
              </a:path>
            </a:pathLst>
          </a:custGeom>
          <a:solidFill>
            <a:srgbClr val="F0D4F7"/>
          </a:solidFill>
          <a:ln/>
        </p:spPr>
      </p:sp>
      <p:sp>
        <p:nvSpPr>
          <p:cNvPr id="6" name="Text 3"/>
          <p:cNvSpPr/>
          <p:nvPr/>
        </p:nvSpPr>
        <p:spPr>
          <a:xfrm>
            <a:off x="903860" y="2595265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Page 1 — Executive KPI Page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03860" y="3008213"/>
            <a:ext cx="581208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Overall failure rate, total failed transaction value, top 3 banks by failure volume, and highest-risk payment method. Designed for rapid stakeholder comprehension — no drill-down required.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04436" y="4165203"/>
            <a:ext cx="6210938" cy="1769368"/>
          </a:xfrm>
          <a:custGeom>
            <a:avLst/>
            <a:gdLst/>
            <a:ahLst/>
            <a:cxnLst/>
            <a:rect l="l" t="t" r="r" b="b"/>
            <a:pathLst>
              <a:path w="6210938" h="1769368">
                <a:moveTo>
                  <a:pt x="0" y="0"/>
                </a:moveTo>
                <a:lnTo>
                  <a:pt x="6210938" y="0"/>
                </a:lnTo>
                <a:lnTo>
                  <a:pt x="6210938" y="1699548"/>
                </a:lnTo>
                <a:arcTo hR="69820" wR="69818" stAng="0" swAng="5400000"/>
                <a:lnTo>
                  <a:pt x="69818" y="1769368"/>
                </a:lnTo>
                <a:arcTo hR="69820" wR="69818" stAng="5400000" swAng="5400000"/>
                <a:lnTo>
                  <a:pt x="0" y="0"/>
                </a:lnTo>
                <a:close/>
              </a:path>
            </a:pathLst>
          </a:custGeom>
          <a:solidFill>
            <a:srgbClr val="F0D4F7"/>
          </a:solidFill>
          <a:ln/>
        </p:spPr>
      </p:sp>
      <p:sp>
        <p:nvSpPr>
          <p:cNvPr id="9" name="Shape 6"/>
          <p:cNvSpPr/>
          <p:nvPr/>
        </p:nvSpPr>
        <p:spPr>
          <a:xfrm>
            <a:off x="704436" y="4165203"/>
            <a:ext cx="6210938" cy="25400"/>
          </a:xfrm>
          <a:prstGeom prst="roundRect">
            <a:avLst>
              <a:gd name="adj" fmla="val 49999"/>
            </a:avLst>
          </a:prstGeom>
          <a:solidFill>
            <a:srgbClr val="D6BADD"/>
          </a:solidFill>
          <a:ln/>
        </p:spPr>
      </p:sp>
      <p:sp>
        <p:nvSpPr>
          <p:cNvPr id="10" name="Text 7"/>
          <p:cNvSpPr/>
          <p:nvPr/>
        </p:nvSpPr>
        <p:spPr>
          <a:xfrm>
            <a:off x="903860" y="4364633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Page 2 — Diagnostic Page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03860" y="4777581"/>
            <a:ext cx="581208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Drill-downs by bank, device, network, time-of-day, and amount bucket. Every chart must map back to a specific analysis objective. This page answers the "why" behind the KPIs.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6614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Takeaways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895" y="2357983"/>
            <a:ext cx="299137" cy="299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6266" y="2351782"/>
            <a:ext cx="462486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Clean First, Analyze Second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46266" y="2764730"/>
            <a:ext cx="462486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 every transformation step. Inconsistent labels and unhandled nulls silently corrupt failure rate calculations.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5272" y="2357983"/>
            <a:ext cx="299137" cy="2991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643" y="2351782"/>
            <a:ext cx="46249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Thresholds Prevent Noise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868643" y="2764730"/>
            <a:ext cx="462496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Always apply a minimum transaction-volume threshold before comparing rates. Small-sample banks distort rankings and mislead decisions.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895" y="4127450"/>
            <a:ext cx="299137" cy="2991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46266" y="4121249"/>
            <a:ext cx="462486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Value Over Volume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346266" y="4534198"/>
            <a:ext cx="462486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Failed transaction value share is the stakeholder metric. A bank with fewer failures but larger average amounts may represent greater financial risk.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5272" y="4127450"/>
            <a:ext cx="299137" cy="2991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68643" y="4121249"/>
            <a:ext cx="46249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Every Query Needs a Business Sentence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868643" y="4534198"/>
            <a:ext cx="462496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Save each query in your project file and write one clear interpretation beneath it. Analysis without communication has no operational impact.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2026-09-22T12:10:24Z</dcterms:created>
  <dcterms:modified xsi:type="dcterms:W3CDTF">2026-09-22T12:10:24Z</dcterms:modified>
</cp:coreProperties>
</file>